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SpecialPlsOnTitleSld="0">
  <p:sldMasterIdLst>
    <p:sldMasterId id="2147483696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1F423C0B-24CF-4C3C-8A59-7768EA0501B5}" styleName="Normal Style 1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보통 스타일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8447" autoAdjust="0"/>
    <p:restoredTop sz="96698" autoAdjust="0"/>
  </p:normalViewPr>
  <p:slideViewPr>
    <p:cSldViewPr snapToGrid="0">
      <p:cViewPr>
        <p:scale>
          <a:sx n="100" d="100"/>
          <a:sy n="100" d="100"/>
        </p:scale>
        <p:origin x="216" y="90"/>
      </p:cViewPr>
      <p:guideLst>
        <p:guide orient="horz" pos="2155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102"/>
      </p:cViewPr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presProps" Target="presProps.xml"  /><Relationship Id="rId28" Type="http://schemas.openxmlformats.org/officeDocument/2006/relationships/viewProps" Target="viewProps.xml"  /><Relationship Id="rId29" Type="http://schemas.openxmlformats.org/officeDocument/2006/relationships/theme" Target="theme/theme1.xml"  /><Relationship Id="rId3" Type="http://schemas.openxmlformats.org/officeDocument/2006/relationships/slide" Target="slides/slide1.xml"  /><Relationship Id="rId30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B271BF6-60FE-4563-A803-25092CD30300}" type="datetime1">
              <a:rPr lang="ko-KR" altLang="en-US"/>
              <a:pPr lvl="0">
                <a:defRPr/>
              </a:pPr>
              <a:t>2025-12-09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CEF7A92-5280-4D66-9CAA-95628E9E6E6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>이상 탐지 모델을 선정한 이후에는 해당 모델을 학습할 데이터셋을 구축하였습니다</a:t>
            </a:r>
            <a:r>
              <a:rPr lang="en-US" altLang="ko-KR" b="0" i="0" u="none" strike="noStrike">
                <a:latin typeface="맑은 고딕"/>
                <a:ea typeface="맑은 고딕"/>
              </a:rPr>
              <a:t>.</a:t>
            </a:r>
            <a:r>
              <a:rPr lang="ko-KR" altLang="en-US" b="0" i="0" u="none" strike="noStrike">
                <a:latin typeface="맑은 고딕"/>
                <a:ea typeface="맑은 고딕"/>
              </a:rPr>
              <a:t> </a:t>
            </a:r>
            <a:endParaRPr lang="ko-KR" altLang="en-US" b="0" i="0" u="none" strike="noStrike">
              <a:latin typeface="맑은 고딕"/>
              <a:ea typeface="맑은 고딕"/>
            </a:endParaRPr>
          </a:p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>기존에 공개된 데이터셋 </a:t>
            </a:r>
            <a:r>
              <a:rPr lang="en-US" altLang="ko-KR" b="0" i="0" u="none" strike="noStrike">
                <a:latin typeface="맑은 고딕"/>
                <a:ea typeface="맑은 고딕"/>
              </a:rPr>
              <a:t>3000</a:t>
            </a:r>
            <a:r>
              <a:rPr lang="ko-KR" altLang="en-US" b="0" i="0" u="none" strike="noStrike">
                <a:latin typeface="맑은 고딕"/>
                <a:ea typeface="맑은 고딕"/>
              </a:rPr>
              <a:t>장과 추가로 직접 수집한 </a:t>
            </a:r>
            <a:r>
              <a:rPr lang="en-US" altLang="ko-KR" b="0" i="0" u="none" strike="noStrike">
                <a:latin typeface="맑은 고딕"/>
                <a:ea typeface="맑은 고딕"/>
              </a:rPr>
              <a:t>2000</a:t>
            </a:r>
            <a:r>
              <a:rPr lang="ko-KR" altLang="en-US" b="0" i="0" u="none" strike="noStrike">
                <a:latin typeface="맑은 고딕"/>
                <a:ea typeface="맑은 고딕"/>
              </a:rPr>
              <a:t>장을 합쳐 총 </a:t>
            </a:r>
            <a:r>
              <a:rPr lang="en-US" altLang="ko-KR" b="0" i="0" u="none" strike="noStrike">
                <a:latin typeface="맑은 고딕"/>
                <a:ea typeface="맑은 고딕"/>
              </a:rPr>
              <a:t>5000</a:t>
            </a:r>
            <a:r>
              <a:rPr lang="ko-KR" altLang="en-US" b="0" i="0" u="none" strike="noStrike">
                <a:latin typeface="맑은 고딕"/>
                <a:ea typeface="맑은 고딕"/>
              </a:rPr>
              <a:t>장의 데이터셋을 구축했고 </a:t>
            </a:r>
            <a:endParaRPr lang="ko-KR" altLang="en-US" b="0" i="0" u="none" strike="noStrike">
              <a:latin typeface="맑은 고딕"/>
              <a:ea typeface="맑은 고딕"/>
            </a:endParaRPr>
          </a:p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>학습 데이터셋과 테스트 데이터셋의 </a:t>
            </a:r>
            <a:r>
              <a:rPr lang="en-US" altLang="ko-KR" b="0" i="0" u="none" strike="noStrike">
                <a:latin typeface="맑은 고딕"/>
                <a:ea typeface="맑은 고딕"/>
              </a:rPr>
              <a:t>split</a:t>
            </a:r>
            <a:r>
              <a:rPr lang="ko-KR" altLang="en-US" b="0" i="0" u="none" strike="noStrike">
                <a:latin typeface="맑은 고딕"/>
                <a:ea typeface="맑은 고딕"/>
              </a:rPr>
              <a:t>은 기종에 따른 구분과 실제 현장에서 중고 거래가 이루어지고 있는 실제 데이터를 기준으로 나누어 학습 및 테스트를 진행하도록 했습니다</a:t>
            </a:r>
            <a:r>
              <a:rPr lang="en-US" altLang="ko-KR" b="0" i="0" u="none" strike="noStrike">
                <a:latin typeface="맑은 고딕"/>
                <a:ea typeface="맑은 고딕"/>
              </a:rPr>
              <a:t>.</a:t>
            </a:r>
            <a:endParaRPr lang="en-US" altLang="ko-KR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>기대효과는 이렇다</a:t>
            </a:r>
            <a:r>
              <a:rPr lang="en-US" altLang="ko-KR" b="0" i="0" u="none" strike="noStrike">
                <a:latin typeface="맑은 고딕"/>
                <a:ea typeface="맑은 고딕"/>
              </a:rPr>
              <a:t>.</a:t>
            </a:r>
            <a:r>
              <a:rPr lang="ko-KR" altLang="en-US" b="0" i="0" u="none" strike="noStrike">
                <a:latin typeface="맑은 고딕"/>
                <a:ea typeface="맑은 고딕"/>
              </a:rPr>
              <a:t> </a:t>
            </a:r>
            <a:r>
              <a:rPr lang="en-US" altLang="ko-KR" b="0" i="0" u="none" strike="noStrike">
                <a:latin typeface="맑은 고딕"/>
                <a:ea typeface="맑은 고딕"/>
              </a:rPr>
              <a:t>1</a:t>
            </a:r>
            <a:endParaRPr lang="en-US" altLang="ko-KR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  <a:defRPr/>
            </a:pPr>
            <a:r>
              <a:rPr lang="ko-KR" altLang="en-US" b="0" i="0" u="none" strike="noStrike">
                <a:latin typeface="맑은 고딕"/>
                <a:ea typeface="맑은 고딕"/>
              </a:rPr>
              <a:t/>
            </a:r>
            <a:endParaRPr lang="ko-KR" altLang="en-US" b="0" i="0" u="none" strike="noStrike">
              <a:latin typeface="맑은 고딕"/>
              <a:ea typeface="맑은 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CEF7A92-5280-4D66-9CAA-95628E9E6E66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3999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72C2D009-5F84-4796-8F54-C6899F21AC0E}" type="datetime1">
              <a:rPr lang="ko-KR" altLang="en-US"/>
              <a:pPr lvl="0">
                <a:defRPr/>
              </a:pPr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1482FB67-9CDF-4040-BD58-0159DA07EE09}" type="datetime1">
              <a:rPr lang="ko-KR" altLang="en-US"/>
              <a:pPr lvl="0">
                <a:defRPr/>
              </a:pPr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53473" y="365125"/>
            <a:ext cx="2743199" cy="365125"/>
          </a:xfr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fld id="{171EF441-DD61-471E-990C-77F400E5E03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14" name="제목 4"/>
          <p:cNvSpPr>
            <a:spLocks noGrp="1"/>
          </p:cNvSpPr>
          <p:nvPr>
            <p:ph type="title" hasCustomPrompt="1"/>
          </p:nvPr>
        </p:nvSpPr>
        <p:spPr>
          <a:xfrm>
            <a:off x="695324" y="365125"/>
            <a:ext cx="10620374" cy="4562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uFillTx/>
                <a:latin typeface="Open Sans"/>
                <a:ea typeface="Open Sans"/>
                <a:cs typeface="Open Sans"/>
              </a:rPr>
              <a:t>제목</a:t>
            </a:r>
            <a:endParaRPr lang="ko-KR" altLang="en-US" b="1">
              <a:uFillTx/>
              <a:latin typeface="Open Sans"/>
              <a:ea typeface="나눔고딕"/>
              <a:cs typeface="Open Sans"/>
            </a:endParaRPr>
          </a:p>
        </p:txBody>
      </p:sp>
      <p:sp>
        <p:nvSpPr>
          <p:cNvPr id="2" name="내용 개체 틀 5"/>
          <p:cNvSpPr>
            <a:spLocks noGrp="1"/>
          </p:cNvSpPr>
          <p:nvPr>
            <p:ph idx="1"/>
          </p:nvPr>
        </p:nvSpPr>
        <p:spPr>
          <a:xfrm>
            <a:off x="695324" y="1286359"/>
            <a:ext cx="10801350" cy="497837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endParaRPr lang="ko-KR" altLang="en-US"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598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49" y="4589463"/>
            <a:ext cx="1051559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CBED5E-E67F-4BDB-80A0-A43E0886B38C}" type="datetime1">
              <a:rPr lang="ko-KR" altLang="en-US"/>
              <a:pPr lvl="0">
                <a:defRPr/>
              </a:pPr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19C74724-E72D-458E-A2D3-6DF10E7E384F}" type="datetime1">
              <a:rPr lang="ko-KR" altLang="en-US"/>
              <a:pPr lvl="0">
                <a:defRPr/>
              </a:pPr>
              <a:t>2025-12-09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598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6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199" y="1681163"/>
            <a:ext cx="51831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1831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CFA2369-F30E-4164-9C85-902DFC94C5CE}" type="datetime1">
              <a:rPr lang="ko-KR" altLang="en-US"/>
              <a:pPr lvl="0">
                <a:defRPr/>
              </a:pPr>
              <a:t>2025-12-09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29E0983-9AC0-4B54-8258-811574ECB342}" type="datetime1">
              <a:rPr lang="ko-KR" altLang="en-US"/>
              <a:pPr lvl="0">
                <a:defRPr/>
              </a:pPr>
              <a:t>2025-12-09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365125"/>
            <a:ext cx="2743199" cy="365125"/>
          </a:xfr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fld id="{171EF441-DD61-471E-990C-77F400E5E03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2881EE4F-71A0-43AC-8590-6386B3BF6300}" type="datetime1">
              <a:rPr lang="ko-KR" altLang="en-US"/>
              <a:pPr lvl="0">
                <a:defRPr/>
              </a:pPr>
              <a:t>2025-12-09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7" y="987425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1D82B3E4-B0D8-4138-BA2F-330083BFF877}" type="datetime1">
              <a:rPr lang="ko-KR" altLang="en-US"/>
              <a:pPr lvl="0">
                <a:defRPr/>
              </a:pPr>
              <a:t>2025-12-09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172199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51B7C95-A4EA-47C3-9D52-10BE4422CB63}" type="datetime1">
              <a:rPr lang="ko-KR" altLang="en-US"/>
              <a:pPr lvl="0">
                <a:defRPr/>
              </a:pPr>
              <a:t>2025-12-09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F505D1AC-BC73-41E9-9B43-5C260008BCB3}" type="datetime1">
              <a:rPr lang="ko-KR" altLang="en-US"/>
              <a:pPr lvl="0">
                <a:defRPr/>
              </a:pPr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899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CC8D398-43ED-4B8E-819A-07C31E6551BA}" type="datetime1">
              <a:rPr lang="ko-KR" altLang="en-US"/>
              <a:pPr lvl="0">
                <a:defRPr/>
              </a:pPr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598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515598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27431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AAA98DF6-130A-4BE5-A807-81B2E6EE5296}" type="datetime1">
              <a:rPr lang="ko-KR" altLang="en-US"/>
              <a:pPr lvl="0">
                <a:defRPr/>
              </a:pPr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71EF441-DD61-471E-990C-77F400E5E03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1.png"  /><Relationship Id="rId4" Type="http://schemas.openxmlformats.org/officeDocument/2006/relationships/image" Target="../media/image2.jpe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Relationship Id="rId5" Type="http://schemas.openxmlformats.org/officeDocument/2006/relationships/image" Target="../media/image12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1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14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15.png"  /><Relationship Id="rId4" Type="http://schemas.openxmlformats.org/officeDocument/2006/relationships/image" Target="../media/image16.png"  /><Relationship Id="rId5" Type="http://schemas.openxmlformats.org/officeDocument/2006/relationships/image" Target="../media/image17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5.xml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Relationship Id="rId5" Type="http://schemas.openxmlformats.org/officeDocument/2006/relationships/image" Target="../media/image20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6.xml"  /><Relationship Id="rId3" Type="http://schemas.openxmlformats.org/officeDocument/2006/relationships/image" Target="../media/image21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7.xml"  /><Relationship Id="rId3" Type="http://schemas.openxmlformats.org/officeDocument/2006/relationships/image" Target="../media/image22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8.xml"  /><Relationship Id="rId3" Type="http://schemas.openxmlformats.org/officeDocument/2006/relationships/image" Target="../media/image23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9.xml"  /><Relationship Id="rId3" Type="http://schemas.openxmlformats.org/officeDocument/2006/relationships/image" Target="../media/image24.png"  /><Relationship Id="rId4" Type="http://schemas.openxmlformats.org/officeDocument/2006/relationships/image" Target="../media/image25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28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1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2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3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4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-2" y="1572565"/>
            <a:ext cx="12192003" cy="1911679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Smartphone-Specific Anomaly Detection </a:t>
            </a:r>
            <a:endParaRPr lang="en-US" altLang="ko-KR" sz="4000" b="1">
              <a:latin typeface="나눔스퀘어OTF_ac ExtraBold"/>
              <a:ea typeface="나눔스퀘어OTF_ac ExtraBold"/>
              <a:cs typeface="Open Sans"/>
            </a:endParaRPr>
          </a:p>
          <a:p>
            <a:pPr algn="ctr">
              <a:spcBef>
                <a:spcPts val="0"/>
              </a:spcBef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and Enhanced MLLM Reasoning Using </a:t>
            </a:r>
            <a:b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</a:b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Gnerative AI-Driven Data Augmentation</a:t>
            </a:r>
            <a:endParaRPr lang="en-US" altLang="ko-KR" sz="4000" b="1">
              <a:latin typeface="나눔스퀘어OTF_ac ExtraBold"/>
              <a:ea typeface="나눔스퀘어OTF_ac ExtraBold"/>
              <a:cs typeface="Open Sans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824181" y="3590925"/>
            <a:ext cx="8543636" cy="546802"/>
          </a:xfrm>
          <a:prstGeom prst="rect">
            <a:avLst/>
          </a:prstGeom>
          <a:solidFill>
            <a:srgbClr val="2939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2500" b="1">
                <a:latin typeface="나눔스퀘어OTF_ac ExtraBold"/>
                <a:ea typeface="나눔스퀘어OTF_ac ExtraBold"/>
                <a:cs typeface="Open Sans"/>
              </a:rPr>
              <a:t>Data Analysis Capstone Design 2025-2 - Final </a:t>
            </a:r>
            <a:endParaRPr lang="en-US" altLang="ko-KR" sz="2500" b="1">
              <a:latin typeface="나눔스퀘어OTF_ac ExtraBold"/>
              <a:ea typeface="나눔스퀘어OTF_ac ExtraBold"/>
              <a:cs typeface="Open Sans"/>
            </a:endParaRPr>
          </a:p>
        </p:txBody>
      </p:sp>
      <p:sp>
        <p:nvSpPr>
          <p:cNvPr id="20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1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2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3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4" name="TextBox 1"/>
          <p:cNvSpPr txBox="1"/>
          <p:nvPr/>
        </p:nvSpPr>
        <p:spPr>
          <a:xfrm>
            <a:off x="0" y="4778097"/>
            <a:ext cx="12192001" cy="90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>
                <a:latin typeface="나눔스퀘어OTF_ac Bold"/>
                <a:ea typeface="나눔스퀘어OTF_ac Bold"/>
                <a:cs typeface="Open Sans"/>
              </a:rPr>
              <a:t>KyungHee University IMSE</a:t>
            </a:r>
            <a:br>
              <a:rPr lang="en-US" altLang="ko-KR" b="1">
                <a:latin typeface="나눔스퀘어OTF_ac Bold"/>
                <a:ea typeface="나눔스퀘어OTF_ac Bold"/>
                <a:cs typeface="Open Sans"/>
              </a:rPr>
            </a:br>
            <a:r>
              <a:rPr lang="ko-KR" altLang="en-US" b="1">
                <a:latin typeface="나눔스퀘어OTF_ac Bold"/>
                <a:ea typeface="나눔스퀘어OTF_ac Bold"/>
                <a:cs typeface="Open Sans"/>
              </a:rPr>
              <a:t>학사과정 장준필</a:t>
            </a:r>
            <a:r>
              <a:rPr lang="en-US" altLang="ko-KR" b="1">
                <a:latin typeface="나눔스퀘어OTF_ac Bold"/>
                <a:ea typeface="나눔스퀘어OTF_ac Bold"/>
                <a:cs typeface="Open Sans"/>
              </a:rPr>
              <a:t>, </a:t>
            </a:r>
            <a:r>
              <a:rPr lang="ko-KR" altLang="en-US" b="1">
                <a:latin typeface="나눔스퀘어OTF_ac Bold"/>
                <a:ea typeface="나눔스퀘어OTF_ac Bold"/>
                <a:cs typeface="Open Sans"/>
              </a:rPr>
              <a:t>이 찬</a:t>
            </a:r>
            <a:endParaRPr lang="ko-KR" altLang="en-US" b="1">
              <a:latin typeface="나눔스퀘어OTF_ac Bold"/>
              <a:ea typeface="나눔스퀘어OTF_ac Bold"/>
              <a:cs typeface="Open Sans"/>
            </a:endParaRPr>
          </a:p>
        </p:txBody>
      </p:sp>
      <p:sp>
        <p:nvSpPr>
          <p:cNvPr id="25" name="TextBox 1"/>
          <p:cNvSpPr txBox="1"/>
          <p:nvPr/>
        </p:nvSpPr>
        <p:spPr>
          <a:xfrm>
            <a:off x="0" y="4240491"/>
            <a:ext cx="12192001" cy="54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2000" b="1">
                <a:latin typeface="나눔스퀘어OTF_ac Bold"/>
                <a:ea typeface="나눔스퀘어OTF_ac Bold"/>
                <a:cs typeface="Open Sans"/>
              </a:rPr>
              <a:t>2025. 12. 12. Fri.</a:t>
            </a:r>
            <a:endParaRPr lang="en-US" altLang="ko-KR" sz="2000" b="1">
              <a:latin typeface="나눔스퀘어OTF_ac Bold"/>
              <a:ea typeface="나눔스퀘어OTF_ac Bold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b="1">
                <a:latin typeface="나눔스퀘어OTF_ac ExtraBold"/>
                <a:ea typeface="나눔스퀘어OTF_ac ExtraBold"/>
                <a:cs typeface="Open Sans"/>
              </a:rPr>
              <a:t>Contents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2400" b="1">
                <a:latin typeface="나눔스퀘어OTF_ac ExtraBold"/>
                <a:ea typeface="나눔스퀘어OTF_ac ExtraBold"/>
                <a:cs typeface="Open Sans"/>
              </a:rPr>
              <a:t>1. Background &amp;</a:t>
            </a:r>
            <a:r>
              <a:rPr lang="ko-KR" altLang="en-US" sz="2400" b="1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2400" b="1">
                <a:latin typeface="나눔스퀘어OTF_ac ExtraBold"/>
                <a:ea typeface="나눔스퀘어OTF_ac ExtraBold"/>
                <a:cs typeface="Open Sans"/>
              </a:rPr>
              <a:t>Problem</a:t>
            </a:r>
          </a:p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2400" b="1">
                <a:latin typeface="나눔스퀘어OTF_ac ExtraBold"/>
                <a:ea typeface="나눔스퀘어OTF_ac ExtraBold"/>
                <a:cs typeface="Open Sans"/>
              </a:rPr>
              <a:t>2. Project Idea</a:t>
            </a:r>
          </a:p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2400" b="1">
                <a:latin typeface="나눔스퀘어OTF_ac ExtraBold"/>
                <a:ea typeface="나눔스퀘어OTF_ac ExtraBold"/>
                <a:cs typeface="Open Sans"/>
              </a:rPr>
              <a:t>3. Methodology</a:t>
            </a:r>
          </a:p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2400" b="1">
                <a:latin typeface="나눔스퀘어OTF_ac ExtraBold"/>
                <a:ea typeface="나눔스퀘어OTF_ac ExtraBold"/>
                <a:cs typeface="Open Sans"/>
              </a:rPr>
              <a:t>4. Results &amp; Analysis</a:t>
            </a:r>
          </a:p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2400" b="1">
                <a:latin typeface="나눔스퀘어OTF_ac ExtraBold"/>
                <a:ea typeface="나눔스퀘어OTF_ac ExtraBold"/>
                <a:cs typeface="Open Sans"/>
              </a:rPr>
              <a:t>5. Conclusion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solidFill>
            <a:srgbClr val="FFFFFF"/>
          </a:solidFill>
        </p:spPr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2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6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1. Background &amp; Problem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1. Introduction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800">
                <a:latin typeface="나눔스퀘어OTF_ac ExtraBold"/>
                <a:ea typeface="나눔스퀘어OTF_ac ExtraBold"/>
                <a:cs typeface="Open Sans"/>
              </a:rPr>
              <a:t>Background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비대면</a:t>
            </a:r>
            <a:r>
              <a:rPr lang="en-US" altLang="ko-KR" sz="1800">
                <a:latin typeface="나눔스퀘어OTF_ac"/>
                <a:ea typeface="나눔스퀘어OTF_ac"/>
                <a:cs typeface="Open Sans"/>
              </a:rPr>
              <a:t>,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 이미지 중심의 중고거래 플랫폼 급성장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카테고리 다양화 및 거래량↑ → 검수 물량 증가로 일관된 기준 필요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800">
                <a:latin typeface="나눔스퀘어OTF_ac"/>
                <a:ea typeface="나눔스퀘어OTF_ac"/>
                <a:cs typeface="Open Sans"/>
              </a:rPr>
              <a:t>But,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 플랫폼마다 품질 기준 상이 </a:t>
            </a:r>
            <a:r>
              <a:rPr lang="en-US" altLang="ko-KR" sz="1800">
                <a:latin typeface="나눔스퀘어OTF_ac"/>
                <a:ea typeface="나눔스퀘어OTF_ac"/>
                <a:cs typeface="Open Sans"/>
              </a:rPr>
              <a:t>or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 공개</a:t>
            </a:r>
            <a:r>
              <a:rPr lang="en-US" altLang="ko-KR" sz="1800">
                <a:latin typeface="나눔스퀘어OTF_ac"/>
                <a:ea typeface="나눔스퀘어OTF_ac"/>
                <a:cs typeface="Open Sans"/>
              </a:rPr>
              <a:t> X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800">
              <a:latin typeface="나눔스퀘어OTF_ac"/>
              <a:ea typeface="나눔스퀘어OTF_ac"/>
              <a:cs typeface="Open Sans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800">
                <a:latin typeface="나눔스퀘어OTF_ac ExtraBold"/>
                <a:ea typeface="나눔스퀘어OTF_ac ExtraBold"/>
                <a:cs typeface="Open Sans"/>
              </a:rPr>
              <a:t>Problem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중고거래 플랫폼 관점</a:t>
            </a:r>
            <a:r>
              <a:rPr lang="en-US" altLang="ko-KR" sz="1800">
                <a:latin typeface="나눔스퀘어OTF_ac"/>
                <a:ea typeface="나눔스퀘어OTF_ac"/>
                <a:cs typeface="Open Sans"/>
              </a:rPr>
              <a:t>: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 품질 판단의 주관성</a:t>
            </a:r>
            <a:r>
              <a:rPr lang="en-US" altLang="ko-KR" sz="1800">
                <a:latin typeface="나눔스퀘어OTF_ac"/>
                <a:ea typeface="나눔스퀘어OTF_ac"/>
                <a:cs typeface="Open Sans"/>
              </a:rPr>
              <a:t>,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 수작업 검사 시간 및 비용↑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구매자 관점</a:t>
            </a:r>
            <a:r>
              <a:rPr lang="en-US" altLang="ko-KR" sz="1800">
                <a:latin typeface="나눔스퀘어OTF_ac"/>
                <a:ea typeface="나눔스퀘어OTF_ac"/>
                <a:cs typeface="Open Sans"/>
              </a:rPr>
              <a:t>: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 사진만으로는 제품의 품질 상태를 확인하기 어려워 신뢰성</a:t>
            </a:r>
            <a:r>
              <a:rPr lang="en-US" altLang="en-US" sz="1800">
                <a:latin typeface="나눔스퀘어OTF_ac"/>
                <a:ea typeface="나눔스퀘어OTF_ac"/>
                <a:cs typeface="Open Sans"/>
              </a:rPr>
              <a:t>↓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 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ko-KR" altLang="en-US" sz="1800">
              <a:latin typeface="나눔스퀘어OTF_ac ExtraBold"/>
              <a:ea typeface="나눔스퀘어OTF_ac ExtraBold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3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3" name="그림 10"/>
          <p:cNvPicPr>
            <a:picLocks noChangeAspect="1"/>
          </p:cNvPicPr>
          <p:nvPr/>
        </p:nvPicPr>
        <p:blipFill rotWithShape="1">
          <a:blip r:embed="rId3"/>
          <a:srcRect r="40590" b="47670"/>
          <a:stretch>
            <a:fillRect/>
          </a:stretch>
        </p:blipFill>
        <p:spPr>
          <a:xfrm>
            <a:off x="8417615" y="1671421"/>
            <a:ext cx="2894156" cy="1852828"/>
          </a:xfrm>
          <a:prstGeom prst="rect">
            <a:avLst/>
          </a:prstGeom>
        </p:spPr>
      </p:pic>
      <p:sp>
        <p:nvSpPr>
          <p:cNvPr id="14" name="TextBox 11"/>
          <p:cNvSpPr txBox="1"/>
          <p:nvPr/>
        </p:nvSpPr>
        <p:spPr>
          <a:xfrm>
            <a:off x="8468760" y="3524250"/>
            <a:ext cx="2795382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800" b="0" i="0" u="none" strike="noStrike" kern="1200" cap="none" spc="0" normalizeH="0" baseline="0">
                <a:solidFill>
                  <a:srgbClr val="000000"/>
                </a:solidFill>
                <a:latin typeface="나눔스퀘어OTF_ac Bold"/>
                <a:ea typeface="나눔스퀘어OTF_ac Bold"/>
              </a:rPr>
              <a:t>[Kream</a:t>
            </a:r>
            <a:r>
              <a:rPr kumimoji="0" lang="ko-KR" altLang="en-US" sz="1800" b="0" i="0" u="none" strike="noStrike" kern="1200" cap="none" spc="0" normalizeH="0" baseline="0">
                <a:solidFill>
                  <a:srgbClr val="000000"/>
                </a:solidFill>
                <a:latin typeface="나눔스퀘어OTF_ac Bold"/>
                <a:ea typeface="나눔스퀘어OTF_ac Bold"/>
              </a:rPr>
              <a:t> 플랫폼의 품질점수</a:t>
            </a:r>
            <a:r>
              <a:rPr kumimoji="0" lang="en-US" altLang="ko-KR" sz="1800" b="0" i="0" u="none" strike="noStrike" kern="1200" cap="none" spc="0" normalizeH="0" baseline="0">
                <a:solidFill>
                  <a:srgbClr val="000000"/>
                </a:solidFill>
                <a:latin typeface="나눔스퀘어OTF_ac Bold"/>
                <a:ea typeface="나눔스퀘어OTF_ac Bold"/>
              </a:rPr>
              <a:t>]</a:t>
            </a:r>
          </a:p>
        </p:txBody>
      </p:sp>
      <p:pic>
        <p:nvPicPr>
          <p:cNvPr id="15" name="그림 1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324435" y="4130331"/>
            <a:ext cx="3036253" cy="1845472"/>
          </a:xfrm>
          <a:prstGeom prst="rect">
            <a:avLst/>
          </a:prstGeom>
        </p:spPr>
      </p:pic>
      <p:sp>
        <p:nvSpPr>
          <p:cNvPr id="16" name="TextBox 14"/>
          <p:cNvSpPr txBox="1"/>
          <p:nvPr/>
        </p:nvSpPr>
        <p:spPr>
          <a:xfrm>
            <a:off x="8364814" y="6020214"/>
            <a:ext cx="298174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800" b="0" i="0" u="none" strike="noStrike" kern="1200" cap="none" spc="0" normalizeH="0" baseline="0">
                <a:solidFill>
                  <a:srgbClr val="000000"/>
                </a:solidFill>
                <a:latin typeface="나눔스퀘어OTF_ac Bold"/>
                <a:ea typeface="나눔스퀘어OTF_ac Bold"/>
              </a:rPr>
              <a:t>[</a:t>
            </a:r>
            <a:r>
              <a:rPr kumimoji="0" lang="ko-KR" altLang="en-US" sz="1800" b="0" i="0" u="none" strike="noStrike" kern="1200" cap="none" spc="0" normalizeH="0" baseline="0">
                <a:solidFill>
                  <a:srgbClr val="000000"/>
                </a:solidFill>
                <a:latin typeface="나눔스퀘어OTF_ac Bold"/>
                <a:ea typeface="나눔스퀘어OTF_ac Bold"/>
              </a:rPr>
              <a:t>당근마켓</a:t>
            </a:r>
            <a:r>
              <a:rPr kumimoji="0" lang="en-US" altLang="ko-KR" sz="1800" b="0" i="0" u="none" strike="noStrike" kern="1200" cap="none" spc="0" normalizeH="0" baseline="0">
                <a:solidFill>
                  <a:srgbClr val="000000"/>
                </a:solidFill>
                <a:latin typeface="나눔스퀘어OTF_ac Bold"/>
                <a:ea typeface="나눔스퀘어OTF_ac Bold"/>
              </a:rPr>
              <a:t>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2. Project Idea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1. Project Introduction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800">
                <a:latin typeface="나눔스퀘어OTF_ac ExtraBold"/>
                <a:ea typeface="나눔스퀘어OTF_ac ExtraBold"/>
                <a:cs typeface="Open Sans"/>
              </a:rPr>
              <a:t>Proposed Project 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중고거래 플랫폼의 주관적 수작업 검사↓</a:t>
            </a:r>
            <a:endParaRPr lang="ko-KR" altLang="en-US">
              <a:latin typeface="나눔스퀘어OTF_ac"/>
              <a:ea typeface="나눔스퀘어OTF_ac"/>
              <a:cs typeface="Open Sans"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구매자의 신뢰도 확보를 위한 상품 이미지의 이상 여부</a:t>
            </a:r>
            <a:r>
              <a:rPr lang="en-US" altLang="ko-KR" sz="1800">
                <a:latin typeface="나눔스퀘어OTF_ac"/>
                <a:ea typeface="나눔스퀘어OTF_ac"/>
                <a:cs typeface="Open Sans"/>
              </a:rPr>
              <a:t>,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 위치</a:t>
            </a:r>
            <a:r>
              <a:rPr lang="en-US" altLang="ko-KR" sz="1800">
                <a:latin typeface="나눔스퀘어OTF_ac"/>
                <a:ea typeface="나눔스퀘어OTF_ac"/>
                <a:cs typeface="Open Sans"/>
              </a:rPr>
              <a:t>,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 결함 정도 제시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800">
                <a:latin typeface="나눔스퀘어OTF_ac Bold"/>
                <a:ea typeface="나눔스퀘어OTF_ac Bold"/>
                <a:cs typeface="Open Sans"/>
              </a:rPr>
              <a:t>일관된 품질 평가 보고서 및 시스템  구축</a:t>
            </a:r>
            <a:endParaRPr lang="ko-KR" altLang="en-US" sz="1800">
              <a:latin typeface="나눔스퀘어OTF_ac"/>
              <a:ea typeface="나눔스퀘어OTF_ac"/>
              <a:cs typeface="Open Sans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ko-KR" sz="1800">
                <a:latin typeface="나눔스퀘어OTF_ac"/>
                <a:ea typeface="나눔스퀘어OTF_ac"/>
                <a:cs typeface="Open Sans"/>
              </a:rPr>
              <a:t>+ Domain(SmartPhone)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 설정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800">
                <a:latin typeface="나눔스퀘어OTF_ac ExtraBold"/>
                <a:ea typeface="나눔스퀘어OTF_ac ExtraBold"/>
                <a:cs typeface="Open Sans"/>
              </a:rPr>
              <a:t>Project main Idea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800">
                <a:latin typeface="나눔스퀘어OTF_ac Bold"/>
                <a:ea typeface="나눔스퀘어OTF_ac Bold"/>
                <a:cs typeface="Open Sans"/>
              </a:rPr>
              <a:t>zero-shot anomaly dection </a:t>
            </a:r>
            <a:r>
              <a:rPr lang="ko-KR" altLang="en-US" sz="1800">
                <a:latin typeface="나눔스퀘어OTF_ac Bold"/>
                <a:ea typeface="나눔스퀘어OTF_ac Bold"/>
                <a:cs typeface="Open Sans"/>
              </a:rPr>
              <a:t>모델 구축</a:t>
            </a:r>
            <a:r>
              <a:rPr lang="en-US" altLang="ko-KR" sz="1800">
                <a:latin typeface="나눔스퀘어OTF_ac Bold"/>
                <a:ea typeface="나눔스퀘어OTF_ac Bold"/>
                <a:cs typeface="Open Sans"/>
              </a:rPr>
              <a:t> 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→</a:t>
            </a:r>
            <a:r>
              <a:rPr lang="en-US" altLang="ko-KR" sz="18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중고 이미지의 이상 여부</a:t>
            </a:r>
            <a:r>
              <a:rPr lang="en-US" altLang="ko-KR" sz="1800">
                <a:latin typeface="나눔스퀘어OTF_ac"/>
                <a:ea typeface="나눔스퀘어OTF_ac"/>
                <a:cs typeface="Open Sans"/>
              </a:rPr>
              <a:t>,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 위치</a:t>
            </a:r>
            <a:r>
              <a:rPr lang="en-US" altLang="ko-KR" sz="1800">
                <a:latin typeface="나눔스퀘어OTF_ac"/>
                <a:ea typeface="나눔스퀘어OTF_ac"/>
                <a:cs typeface="Open Sans"/>
              </a:rPr>
              <a:t>,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 결함 정도를 제시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800">
                <a:latin typeface="나눔스퀘어OTF_ac Bold"/>
                <a:ea typeface="나눔스퀘어OTF_ac Bold"/>
                <a:cs typeface="Open Sans"/>
              </a:rPr>
              <a:t>Multimodal LLMs</a:t>
            </a:r>
            <a:r>
              <a:rPr lang="ko-KR" altLang="en-US" sz="1800">
                <a:latin typeface="나눔스퀘어OTF_ac Bold"/>
                <a:ea typeface="나눔스퀘어OTF_ac Bold"/>
                <a:cs typeface="Open Sans"/>
              </a:rPr>
              <a:t> 활용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 →</a:t>
            </a:r>
            <a:r>
              <a:rPr lang="en-US" altLang="ko-KR" sz="18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중고 이미지의 이상 여부</a:t>
            </a:r>
            <a:r>
              <a:rPr lang="en-US" altLang="ko-KR" sz="1800">
                <a:latin typeface="나눔스퀘어OTF_ac"/>
                <a:ea typeface="나눔스퀘어OTF_ac"/>
                <a:cs typeface="Open Sans"/>
              </a:rPr>
              <a:t>,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 위치</a:t>
            </a:r>
            <a:r>
              <a:rPr lang="en-US" altLang="ko-KR" sz="1800">
                <a:latin typeface="나눔스퀘어OTF_ac"/>
                <a:ea typeface="나눔스퀘어OTF_ac"/>
                <a:cs typeface="Open Sans"/>
              </a:rPr>
              <a:t>,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 결함 정보를 기반으로 품질 보고서 작성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특정 </a:t>
            </a:r>
            <a:r>
              <a:rPr lang="en-US" altLang="ko-KR" sz="1800">
                <a:latin typeface="나눔스퀘어OTF_ac"/>
                <a:ea typeface="나눔스퀘어OTF_ac"/>
                <a:cs typeface="Open Sans"/>
              </a:rPr>
              <a:t>Domain</a:t>
            </a:r>
            <a:r>
              <a:rPr lang="ko-KR" altLang="en-US" sz="1800">
                <a:latin typeface="나눔스퀘어OTF_ac"/>
                <a:ea typeface="나눔스퀘어OTF_ac"/>
                <a:cs typeface="Open Sans"/>
              </a:rPr>
              <a:t>의 </a:t>
            </a:r>
            <a:r>
              <a:rPr lang="en-US" altLang="ko-KR" sz="1800">
                <a:latin typeface="나눔스퀘어OTF_ac"/>
                <a:ea typeface="나눔스퀘어OTF_ac"/>
                <a:cs typeface="Open Sans"/>
              </a:rPr>
              <a:t>Anomaly </a:t>
            </a:r>
            <a:r>
              <a:rPr lang="en-US" altLang="ko-KR" sz="1800">
                <a:latin typeface="나눔스퀘어OTF_ac Bold"/>
                <a:ea typeface="나눔스퀘어OTF_ac Bold"/>
                <a:cs typeface="Open Sans"/>
              </a:rPr>
              <a:t>Dataset </a:t>
            </a:r>
            <a:r>
              <a:rPr lang="ko-KR" altLang="en-US" sz="1800">
                <a:latin typeface="나눔스퀘어OTF_ac Bold"/>
                <a:ea typeface="나눔스퀘어OTF_ac Bold"/>
                <a:cs typeface="Open Sans"/>
              </a:rPr>
              <a:t>구축</a:t>
            </a:r>
            <a:endParaRPr lang="ko-KR" altLang="en-US" sz="1800">
              <a:latin typeface="나눔스퀘어OTF_ac"/>
              <a:ea typeface="나눔스퀘어OTF_ac"/>
              <a:cs typeface="Open Sans"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1800">
              <a:latin typeface="나눔스퀘어OTF_ac"/>
              <a:ea typeface="나눔스퀘어OTF_ac"/>
              <a:cs typeface="Open Sans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ko-KR" altLang="en-US" sz="1800">
              <a:latin typeface="나눔스퀘어OTF_ac"/>
              <a:ea typeface="나눔스퀘어OTF_ac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4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3. Methodology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1. Anomaly Detection Model Selection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Zero-shot Anomaly Detection Model with MLLMs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MLLMs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을 활용한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Zero-shot Anomaly Detection model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선정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이상치 탐지 데이터 불균형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및 부족 문제 해결 가능성 제시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참고 논문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: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Towards Zero-Shot Anomaly Detection and Reasoning with MLLMs</a:t>
            </a:r>
            <a:br>
              <a:rPr lang="ko-KR" altLang="en-US" sz="1700">
                <a:latin typeface="나눔스퀘어OTF_ac"/>
                <a:ea typeface="나눔스퀘어OTF_ac"/>
                <a:cs typeface="Open Sans"/>
              </a:rPr>
            </a:b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               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(CVPR 2025 - Highlight Paper)</a:t>
            </a:r>
          </a:p>
          <a:p>
            <a:pPr>
              <a:lnSpc>
                <a:spcPct val="150000"/>
              </a:lnSpc>
              <a:defRPr/>
            </a:pPr>
            <a:endParaRPr lang="en-US" altLang="ko-KR" sz="1800">
              <a:latin typeface="나눔스퀘어OTF_ac ExtraBold"/>
              <a:ea typeface="나눔스퀘어OTF_ac ExtraBold"/>
              <a:cs typeface="Open Sans"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1800">
              <a:latin typeface="나눔스퀘어OTF_ac"/>
              <a:ea typeface="나눔스퀘어OTF_ac"/>
              <a:cs typeface="Open Sans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ko-KR" altLang="en-US" sz="1800">
              <a:latin typeface="나눔스퀘어OTF_ac"/>
              <a:ea typeface="나눔스퀘어OTF_ac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5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35873" y="3994886"/>
            <a:ext cx="4320254" cy="24268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3. Methodology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2. Anomaly dataset </a:t>
            </a:r>
            <a:r>
              <a:rPr lang="ko-KR" altLang="en-US" sz="2200" b="1">
                <a:latin typeface="나눔스퀘어OTF_ac ExtraBold"/>
                <a:ea typeface="나눔스퀘어OTF_ac ExtraBold"/>
                <a:cs typeface="Open Sans"/>
              </a:rPr>
              <a:t>구축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Smartphone normal / abnormal Dataset 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구축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공개 데이터셋 수집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 +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추가 수집 데이터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Train / Test Split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→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기종에 따른 구별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(Case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구별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, zero-shot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성능 평가를 위해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)</a:t>
            </a:r>
          </a:p>
          <a:p>
            <a:pPr>
              <a:lnSpc>
                <a:spcPct val="150000"/>
              </a:lnSpc>
              <a:defRPr/>
            </a:pPr>
            <a:endParaRPr lang="en-US" altLang="ko-KR" sz="1800">
              <a:latin typeface="나눔스퀘어OTF_ac ExtraBold"/>
              <a:ea typeface="나눔스퀘어OTF_ac ExtraBold"/>
              <a:cs typeface="Open Sans"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1800">
              <a:latin typeface="나눔스퀘어OTF_ac"/>
              <a:ea typeface="나눔스퀘어OTF_ac"/>
              <a:cs typeface="Open Sans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800">
              <a:latin typeface="나눔스퀘어OTF_ac"/>
              <a:ea typeface="나눔스퀘어OTF_ac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6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11274" y="6326758"/>
            <a:ext cx="5035552" cy="3483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700">
                <a:latin typeface="나눔스퀘어OTF_ac"/>
                <a:ea typeface="나눔스퀘어OTF_ac"/>
              </a:rPr>
              <a:t>Smartphone Anomaly Dataset</a:t>
            </a:r>
            <a:r>
              <a:rPr lang="ko-KR" altLang="en-US" sz="1700">
                <a:latin typeface="나눔스퀘어OTF_ac"/>
                <a:ea typeface="나눔스퀘어OTF_ac"/>
              </a:rPr>
              <a:t> </a:t>
            </a:r>
            <a:r>
              <a:rPr lang="en-US" altLang="ko-KR" sz="1700">
                <a:latin typeface="나눔스퀘어OTF_ac"/>
                <a:ea typeface="나눔스퀘어OTF_ac"/>
              </a:rPr>
              <a:t>Table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470407" y="3285502"/>
            <a:ext cx="2378558" cy="3058147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767493" y="3343275"/>
            <a:ext cx="2948578" cy="29057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69074" y="6336283"/>
            <a:ext cx="5121276" cy="3483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700" b="0" i="0" u="none" strike="noStrike" kern="1200" cap="none" spc="0" normalizeH="0" baseline="0">
                <a:solidFill>
                  <a:srgbClr val="000000"/>
                </a:solidFill>
                <a:latin typeface="나눔스퀘어OTF_ac"/>
                <a:ea typeface="나눔스퀘어OTF_ac"/>
              </a:rPr>
              <a:t>Real data(left) / </a:t>
            </a:r>
            <a:r>
              <a:rPr kumimoji="0" lang="ko-KR" altLang="en-US" sz="1700" b="0" i="0" u="none" strike="noStrike" kern="1200" cap="none" spc="0" normalizeH="0" baseline="0">
                <a:solidFill>
                  <a:srgbClr val="000000"/>
                </a:solidFill>
                <a:latin typeface="나눔스퀘어OTF_ac"/>
                <a:ea typeface="나눔스퀘어OTF_ac"/>
              </a:rPr>
              <a:t>생성형 </a:t>
            </a:r>
            <a:r>
              <a:rPr kumimoji="0" lang="en-US" altLang="ko-KR" sz="1700" b="0" i="0" u="none" strike="noStrike" kern="1200" cap="none" spc="0" normalizeH="0" baseline="0">
                <a:solidFill>
                  <a:srgbClr val="000000"/>
                </a:solidFill>
                <a:latin typeface="나눔스퀘어OTF_ac"/>
                <a:ea typeface="나눔스퀘어OTF_ac"/>
              </a:rPr>
              <a:t>AI data(right)</a:t>
            </a:r>
            <a:r>
              <a:rPr kumimoji="0" lang="ko-KR" altLang="en-US" sz="1700" b="0" i="0" u="none" strike="noStrike" kern="1200" cap="none" spc="0" normalizeH="0" baseline="0">
                <a:solidFill>
                  <a:srgbClr val="000000"/>
                </a:solidFill>
                <a:latin typeface="나눔스퀘어OTF_ac"/>
                <a:ea typeface="나눔스퀘어OTF_ac"/>
              </a:rPr>
              <a:t> 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85812" y="3316485"/>
            <a:ext cx="5276888" cy="29527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3. Methodology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3. Training Anomaly Detection Model</a:t>
            </a:r>
            <a:r>
              <a:rPr lang="ko-KR" altLang="en-US" sz="2200" b="1">
                <a:latin typeface="나눔스퀘어OTF_ac ExtraBold"/>
                <a:ea typeface="나눔스퀘어OTF_ac ExtraBold"/>
                <a:cs typeface="Open Sans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학습을 위한 모델 구조 설계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논문의 모델 구조 및 가중치를 활용하여 학습 진행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(Visual Encoder ~ LLM Projecter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전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 )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Visual Encoder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→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  Adaptor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→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 LTFM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→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 VT Selector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=&gt;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분리된 각 구조를 연결하여 모델 설계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출력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: Anomaly score, Anomaly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여부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(0/1),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Heatmap based anomaly score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800">
              <a:latin typeface="나눔스퀘어OTF_ac"/>
              <a:ea typeface="나눔스퀘어OTF_ac"/>
              <a:cs typeface="Open Sans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800">
              <a:latin typeface="나눔스퀘어OTF_ac"/>
              <a:ea typeface="나눔스퀘어OTF_ac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7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307070" y="3743325"/>
            <a:ext cx="6318824" cy="2524164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758967" y="3705225"/>
            <a:ext cx="3596949" cy="1179434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015537" y="4895546"/>
            <a:ext cx="3154392" cy="171989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28206" y="6263259"/>
            <a:ext cx="6286503" cy="3483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700" b="0" i="0" u="none" strike="noStrike" kern="1200" cap="none" spc="0" normalizeH="0" baseline="0">
                <a:solidFill>
                  <a:srgbClr val="000000"/>
                </a:solidFill>
                <a:latin typeface="나눔스퀘어OTF_ac"/>
                <a:ea typeface="나눔스퀘어OTF_ac"/>
              </a:rPr>
              <a:t>Fig3. Overview of the Anomaly-OV architecture.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3. Methodology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4. Results &amp; Analysis before training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600">
                <a:latin typeface="나눔스퀘어OTF_ac ExtraBold"/>
                <a:ea typeface="나눔스퀘어OTF_ac ExtraBold"/>
                <a:cs typeface="Open Sans"/>
              </a:rPr>
              <a:t>학습 전 성능 파악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>
                <a:latin typeface="나눔스퀘어OTF_ac"/>
                <a:ea typeface="나눔스퀘어OTF_ac"/>
                <a:cs typeface="Open Sans"/>
              </a:rPr>
              <a:t>논문의 가중치만을 활용한 </a:t>
            </a:r>
            <a:r>
              <a:rPr lang="en-US" altLang="ko-KR" sz="1600">
                <a:latin typeface="나눔스퀘어OTF_ac"/>
                <a:ea typeface="나눔스퀘어OTF_ac"/>
                <a:cs typeface="Open Sans"/>
              </a:rPr>
              <a:t>Test set</a:t>
            </a:r>
            <a:r>
              <a:rPr lang="ko-KR" altLang="en-US" sz="1600">
                <a:latin typeface="나눔스퀘어OTF_ac"/>
                <a:ea typeface="나눔스퀘어OTF_ac"/>
                <a:cs typeface="Open Sans"/>
              </a:rPr>
              <a:t> 적용</a:t>
            </a:r>
            <a:r>
              <a:rPr lang="en-US" altLang="ko-KR" sz="16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ko-KR" altLang="en-US" sz="1600">
                <a:latin typeface="나눔스퀘어OTF_ac"/>
                <a:ea typeface="나눔스퀘어OTF_ac"/>
                <a:cs typeface="Open Sans"/>
              </a:rPr>
              <a:t>→</a:t>
            </a:r>
            <a:r>
              <a:rPr lang="en-US" altLang="ko-KR" sz="1600">
                <a:latin typeface="나눔스퀘어OTF_ac"/>
                <a:ea typeface="나눔스퀘어OTF_ac"/>
                <a:cs typeface="Open Sans"/>
              </a:rPr>
              <a:t> Metrics,</a:t>
            </a:r>
            <a:r>
              <a:rPr lang="ko-KR" altLang="en-US" sz="16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en-US" altLang="ko-KR" sz="1600">
                <a:latin typeface="나눔스퀘어OTF_ac"/>
                <a:ea typeface="나눔스퀘어OTF_ac"/>
                <a:cs typeface="Open Sans"/>
              </a:rPr>
              <a:t>heatmap </a:t>
            </a:r>
            <a:r>
              <a:rPr lang="ko-KR" altLang="en-US" sz="1600">
                <a:latin typeface="나눔스퀘어OTF_ac"/>
                <a:ea typeface="나눔스퀘어OTF_ac"/>
                <a:cs typeface="Open Sans"/>
              </a:rPr>
              <a:t>결과 분석 및 파악</a:t>
            </a:r>
            <a:br>
              <a:rPr lang="ko-KR" altLang="en-US" sz="1600">
                <a:latin typeface="나눔스퀘어OTF_ac"/>
                <a:ea typeface="나눔스퀘어OTF_ac"/>
                <a:cs typeface="Open Sans"/>
              </a:rPr>
            </a:br>
            <a:r>
              <a:rPr lang="ko-KR" altLang="en-US" sz="1600">
                <a:latin typeface="나눔스퀘어OTF_ac"/>
                <a:ea typeface="나눔스퀘어OTF_ac"/>
                <a:cs typeface="Open Sans"/>
              </a:rPr>
              <a:t>                                                                → 큰 손상에 대한 파악은 어느정도 가능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>
                <a:latin typeface="나눔스퀘어OTF_ac"/>
                <a:ea typeface="나눔스퀘어OTF_ac"/>
                <a:cs typeface="Open Sans"/>
              </a:rPr>
              <a:t>오분류된 </a:t>
            </a:r>
            <a:r>
              <a:rPr lang="en-US" altLang="ko-KR" sz="1600">
                <a:latin typeface="나눔스퀘어OTF_ac"/>
                <a:ea typeface="나눔스퀘어OTF_ac"/>
                <a:cs typeface="Open Sans"/>
              </a:rPr>
              <a:t>Image Dataset</a:t>
            </a:r>
            <a:r>
              <a:rPr lang="ko-KR" altLang="en-US" sz="1600">
                <a:latin typeface="나눔스퀘어OTF_ac"/>
                <a:ea typeface="나눔스퀘어OTF_ac"/>
                <a:cs typeface="Open Sans"/>
              </a:rPr>
              <a:t> 분석 및 파악</a:t>
            </a:r>
            <a:r>
              <a:rPr lang="en-US" altLang="ko-KR" sz="16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ko-KR" altLang="en-US" sz="1600">
                <a:latin typeface="나눔스퀘어OTF_ac"/>
                <a:ea typeface="나눔스퀘어OTF_ac"/>
                <a:cs typeface="Open Sans"/>
              </a:rPr>
              <a:t>→</a:t>
            </a:r>
            <a:r>
              <a:rPr lang="en-US" altLang="ko-KR" sz="16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ko-KR" altLang="en-US" sz="1600">
                <a:latin typeface="나눔스퀘어OTF_ac"/>
                <a:ea typeface="나눔스퀘어OTF_ac"/>
                <a:cs typeface="Open Sans"/>
              </a:rPr>
              <a:t>잔기스 및 빛 번짐에 따른 오분류 발생 → 학습 필요성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800">
              <a:latin typeface="나눔스퀘어OTF_ac"/>
              <a:ea typeface="나눔스퀘어OTF_ac"/>
              <a:cs typeface="Open Sans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800">
              <a:latin typeface="나눔스퀘어OTF_ac"/>
              <a:ea typeface="나눔스퀘어OTF_ac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8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66622" y="3524250"/>
            <a:ext cx="3047825" cy="2917998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581525" y="3524250"/>
            <a:ext cx="2966660" cy="28894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71081" y="6453759"/>
            <a:ext cx="2933703" cy="345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700" b="0" i="0" u="none" strike="noStrike" kern="1200" cap="none" spc="0" normalizeH="0" baseline="0">
                <a:solidFill>
                  <a:srgbClr val="000000"/>
                </a:solidFill>
                <a:latin typeface="나눔스퀘어OTF_ac"/>
                <a:ea typeface="나눔스퀘어OTF_ac"/>
              </a:rPr>
              <a:t>Confusion Matrix Results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0056" y="6463284"/>
            <a:ext cx="2790828" cy="345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700" b="0" i="0" u="none" strike="noStrike" kern="1200" cap="none" spc="0" normalizeH="0" baseline="0">
                <a:solidFill>
                  <a:srgbClr val="000000"/>
                </a:solidFill>
                <a:latin typeface="나눔스퀘어OTF_ac"/>
                <a:ea typeface="나눔스퀘어OTF_ac"/>
              </a:rPr>
              <a:t>Metrics</a:t>
            </a: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797225" y="3780583"/>
            <a:ext cx="3890621" cy="242971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81404" y="6406133"/>
            <a:ext cx="3781430" cy="345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700" b="0" i="0" u="none" strike="noStrike" kern="1200" cap="none" spc="0" normalizeH="0" baseline="0">
                <a:solidFill>
                  <a:srgbClr val="000000"/>
                </a:solidFill>
                <a:latin typeface="나눔스퀘어OTF_ac"/>
                <a:ea typeface="나눔스퀘어OTF_ac"/>
              </a:rPr>
              <a:t>오분류된 </a:t>
            </a:r>
            <a:r>
              <a:rPr kumimoji="0" lang="en-US" altLang="ko-KR" sz="1700" b="0" i="0" u="none" strike="noStrike" kern="1200" cap="none" spc="0" normalizeH="0" baseline="0">
                <a:solidFill>
                  <a:srgbClr val="000000"/>
                </a:solidFill>
                <a:latin typeface="나눔스퀘어OTF_ac"/>
                <a:ea typeface="나눔스퀘어OTF_ac"/>
              </a:rPr>
              <a:t>Dataset Sample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3. Methodology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5. Training Model with smartphone anomaly datasets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기존 학습에서의 문제점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: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Overfitting 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및 성능 하락</a:t>
            </a:r>
          </a:p>
          <a:p>
            <a:pPr>
              <a:lnSpc>
                <a:spcPct val="150000"/>
              </a:lnSpc>
              <a:defRPr/>
            </a:pPr>
            <a:endParaRPr lang="ko-KR" altLang="en-US" sz="1700">
              <a:latin typeface="나눔스퀘어OTF_ac ExtraBold"/>
              <a:ea typeface="나눔스퀘어OTF_ac ExtraBold"/>
              <a:cs typeface="Open Sans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1)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성능 개선 및 과적합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방지를 위한 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Hyperparameter tuning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optimizer: AdamW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loss function: Binary Cross Entropy (BCE)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Batch size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증가 →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조금 더 안정적인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gradient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유도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Learning Rate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감소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(2e^-4)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Weight decay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감소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 (5e^-4)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→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L2 normalization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강도 증가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 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기타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: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Dropout, Scheduler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등의 다양한 실험을 통해 가장 높은 일반화 성능을 내는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Hyperparameter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선정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ko-KR" altLang="en-US" sz="1700">
              <a:latin typeface="나눔스퀘어OTF_ac"/>
              <a:ea typeface="나눔스퀘어OTF_ac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9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3. Methodology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5. Training Model with smartphone anomaly datasets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2) Threshold 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결정 기준 선정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Before: validation set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에서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F1 score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가 가장 높은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threshold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선택</a:t>
            </a:r>
          </a:p>
          <a:p>
            <a:pPr marL="457200" lvl="1" indent="0">
              <a:lnSpc>
                <a:spcPct val="150000"/>
              </a:lnSpc>
              <a:buNone/>
              <a:defRPr/>
            </a:pPr>
            <a:endParaRPr lang="ko-KR" altLang="en-US" sz="1700">
              <a:latin typeface="나눔스퀘어OTF_ac"/>
              <a:ea typeface="나눔스퀘어OTF_ac"/>
              <a:cs typeface="Open Sans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Atfer: Pareto Filtering(Precision, Recall, F1) + min(Precision, Recall)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3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개 지표 모두 더 낮은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threshold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들은 전부 제거해서 후보를 축소한 후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,</a:t>
            </a:r>
          </a:p>
          <a:p>
            <a:pPr marL="457200" lvl="1" indent="0">
              <a:lnSpc>
                <a:spcPct val="150000"/>
              </a:lnSpc>
              <a:buNone/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          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 Pareto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후보들 중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min(Precision, Recall)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이 가장 큰 것을 선택</a:t>
            </a:r>
          </a:p>
          <a:p>
            <a:pPr marL="457200" lvl="1" indent="0">
              <a:lnSpc>
                <a:spcPct val="150000"/>
              </a:lnSpc>
              <a:buNone/>
              <a:defRPr/>
            </a:pPr>
            <a:endParaRPr lang="ko-KR" altLang="en-US" sz="1700">
              <a:latin typeface="나눔스퀘어OTF_ac"/>
              <a:ea typeface="나눔스퀘어OTF_ac"/>
              <a:cs typeface="Open Sans"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즉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,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Precision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과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 Recall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둘 중 하나를 너무 낮게 하지 않도록 하기 위해 두 지표가 균형 있게 높은 해를 선택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ko-KR" altLang="en-US" sz="1700">
              <a:latin typeface="나눔스퀘어OTF_ac"/>
              <a:ea typeface="나눔스퀘어OTF_ac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10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3. Methodology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5. Training Model with smartphone anomaly datasets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2) Threshold 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결정 기준 선정</a:t>
            </a:r>
            <a:endParaRPr lang="en-US" altLang="ko-KR" sz="1700">
              <a:latin typeface="나눔스퀘어OTF_ac ExtraBold"/>
              <a:ea typeface="나눔스퀘어OTF_ac ExtraBold"/>
              <a:cs typeface="Open Sans"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1700">
              <a:latin typeface="나눔스퀘어OTF_ac"/>
              <a:ea typeface="나눔스퀘어OTF_ac"/>
              <a:cs typeface="Open Sans"/>
            </a:endParaRPr>
          </a:p>
          <a:p>
            <a:pPr marL="457200" lvl="1" indent="0">
              <a:lnSpc>
                <a:spcPct val="150000"/>
              </a:lnSpc>
              <a:buNone/>
              <a:defRPr/>
            </a:pPr>
            <a:endParaRPr lang="ko-KR" altLang="en-US" sz="1700">
              <a:latin typeface="나눔스퀘어OTF_ac"/>
              <a:ea typeface="나눔스퀘어OTF_ac"/>
              <a:cs typeface="Open Sans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700">
              <a:latin typeface="나눔스퀘어OTF_ac"/>
              <a:ea typeface="나눔스퀘어OTF_ac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11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l="2940" t="2150" r="2450" b="5500"/>
          <a:stretch>
            <a:fillRect/>
          </a:stretch>
        </p:blipFill>
        <p:spPr>
          <a:xfrm>
            <a:off x="3043679" y="2388660"/>
            <a:ext cx="6295142" cy="42027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4. Results</a:t>
            </a:r>
            <a:r>
              <a:rPr lang="ko-KR" altLang="en-US" sz="4000" b="1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&amp; Analysis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1.</a:t>
            </a:r>
            <a:r>
              <a:rPr lang="ko-KR" altLang="en-US" sz="2200" b="1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Fine tuning</a:t>
            </a:r>
            <a:r>
              <a:rPr lang="ko-KR" altLang="en-US" sz="2200" b="1">
                <a:latin typeface="나눔스퀘어OTF_ac ExtraBold"/>
                <a:ea typeface="나눔스퀘어OTF_ac ExtraBold"/>
                <a:cs typeface="Open Sans"/>
              </a:rPr>
              <a:t>을 통한 성능 향상 확인</a:t>
            </a: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 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(Base) Pretrained Model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도메인 적응 전 성능 기준점 설정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Threshold=0.6070 / Accuracy: 79.70% / Precision: 96.52% / Recall: 75.51% / F1-score: 84.73%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Fine Tuning Model without Generative AI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Image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생성형 데이터가 희소 결함 학습에 기여하는 효과 검증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Threshold=0.8750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/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Accuracy: 82.99% / </a:t>
            </a:r>
            <a:r>
              <a:rPr lang="en-US" altLang="ko-KR" sz="1700" u="sng">
                <a:latin typeface="나눔스퀘어OTF_ac"/>
                <a:ea typeface="나눔스퀘어OTF_ac"/>
                <a:cs typeface="Open Sans"/>
              </a:rPr>
              <a:t>Precision: 97.89%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 / </a:t>
            </a:r>
            <a:r>
              <a:rPr lang="en-US" altLang="ko-KR" sz="1700" u="sng">
                <a:latin typeface="나눔스퀘어OTF_ac"/>
                <a:ea typeface="나눔스퀘어OTF_ac"/>
                <a:cs typeface="Open Sans"/>
              </a:rPr>
              <a:t>Recall: 78.91%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 / </a:t>
            </a:r>
            <a:r>
              <a:rPr lang="en-US" altLang="ko-KR" sz="1700" u="sng">
                <a:latin typeface="나눔스퀘어OTF_ac"/>
                <a:ea typeface="나눔스퀘어OTF_ac"/>
                <a:cs typeface="Open Sans"/>
              </a:rPr>
              <a:t>F1-score: 87.38%</a:t>
            </a:r>
            <a:endParaRPr lang="en-US" altLang="ko-KR" sz="1700">
              <a:latin typeface="나눔스퀘어OTF_ac"/>
              <a:ea typeface="나눔스퀘어OTF_ac"/>
              <a:cs typeface="Open Sans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Fine Tuning Model with Generative AI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Image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LTFM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모듈의 일반적인 도메인 적응 효과 확인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Threshold=0.4250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/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Accuracy: 84.26% / </a:t>
            </a:r>
            <a:r>
              <a:rPr lang="en-US" altLang="ko-KR" sz="1700" u="sng">
                <a:latin typeface="나눔스퀘어OTF_ac"/>
                <a:ea typeface="나눔스퀘어OTF_ac"/>
                <a:cs typeface="Open Sans"/>
              </a:rPr>
              <a:t>Precision: 97.54%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 / </a:t>
            </a:r>
            <a:r>
              <a:rPr lang="en-US" altLang="ko-KR" sz="1700" u="sng">
                <a:latin typeface="나눔스퀘어OTF_ac"/>
                <a:ea typeface="나눔스퀘어OTF_ac"/>
                <a:cs typeface="Open Sans"/>
              </a:rPr>
              <a:t>Recall: 80.95%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 / </a:t>
            </a:r>
            <a:r>
              <a:rPr lang="en-US" altLang="ko-KR" sz="1700" u="sng">
                <a:latin typeface="나눔스퀘어OTF_ac"/>
                <a:ea typeface="나눔스퀘어OTF_ac"/>
                <a:cs typeface="Open Sans"/>
              </a:rPr>
              <a:t>F1-score: 88.48%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700" u="sng">
              <a:latin typeface="나눔스퀘어OTF_ac"/>
              <a:ea typeface="나눔스퀘어OTF_ac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12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4. Results</a:t>
            </a:r>
            <a:r>
              <a:rPr lang="ko-KR" altLang="en-US" sz="4000" b="1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&amp; Analysis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2. Fine tuning effect analysis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(Base) Pretrained Model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정밀도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(96.52%)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는 높았으나 재현율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(75.51%)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이 상대적으로 낮게 나타남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도메인 특화 미세 결함을 정상으로 오분류하는 경향이 강하게 나타남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Fine Tuning Model without Generative AI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Image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정밀도와 재현율 모두 상승하였으며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f1-score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가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87.38%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로 상승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도메인 적응 학습을 통해 미세 결함에 대한 민감도를 일부 높임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Fine Tuning Model with Generative AI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Image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모든 시나리오 중 가장 우수한 성능 달성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생성형 데이터가 고난도 탐지 유형을 모델에게 효과적으로 학습시킴</a:t>
            </a:r>
          </a:p>
          <a:p>
            <a:pPr lvl="1">
              <a:lnSpc>
                <a:spcPct val="150000"/>
              </a:lnSpc>
              <a:defRPr/>
            </a:pPr>
            <a:endParaRPr lang="ko-KR" altLang="en-US" sz="1700" u="sng">
              <a:latin typeface="나눔스퀘어OTF_ac"/>
              <a:ea typeface="나눔스퀘어OTF_ac"/>
              <a:cs typeface="Open Sans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ko-KR" altLang="en-US" sz="1700" u="sng">
              <a:latin typeface="나눔스퀘어OTF_ac"/>
              <a:ea typeface="나눔스퀘어OTF_ac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13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1" name="그림 10"/>
          <p:cNvPicPr/>
          <p:nvPr/>
        </p:nvPicPr>
        <p:blipFill rotWithShape="1">
          <a:blip r:embed="rId3"/>
          <a:srcRect l="8000" t="1150" r="57570" b="3710"/>
          <a:stretch>
            <a:fillRect/>
          </a:stretch>
        </p:blipFill>
        <p:spPr>
          <a:xfrm>
            <a:off x="8399029" y="934402"/>
            <a:ext cx="2312510" cy="2661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그림 11"/>
          <p:cNvPicPr/>
          <p:nvPr/>
        </p:nvPicPr>
        <p:blipFill rotWithShape="1">
          <a:blip r:embed="rId3"/>
          <a:srcRect l="56570" t="1150" r="8830" b="3710"/>
          <a:stretch>
            <a:fillRect/>
          </a:stretch>
        </p:blipFill>
        <p:spPr>
          <a:xfrm>
            <a:off x="8399030" y="3845650"/>
            <a:ext cx="2324417" cy="2661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4. Results</a:t>
            </a:r>
            <a:r>
              <a:rPr lang="ko-KR" altLang="en-US" sz="4000" b="1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&amp; Analysis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2. Fine tuning effect analysis</a:t>
            </a:r>
          </a:p>
          <a:p>
            <a:pPr>
              <a:lnSpc>
                <a:spcPct val="150000"/>
              </a:lnSpc>
              <a:defRPr/>
            </a:pPr>
            <a:endParaRPr lang="en-US" altLang="ko-KR" sz="1700">
              <a:latin typeface="나눔스퀘어OTF_ac ExtraBold"/>
              <a:ea typeface="나눔스퀘어OTF_ac ExtraBold"/>
              <a:cs typeface="Open Sans"/>
            </a:endParaRPr>
          </a:p>
          <a:p>
            <a:pPr lvl="1">
              <a:lnSpc>
                <a:spcPct val="150000"/>
              </a:lnSpc>
              <a:defRPr/>
            </a:pPr>
            <a:endParaRPr lang="ko-KR" altLang="en-US" sz="1700" u="sng">
              <a:latin typeface="나눔스퀘어OTF_ac"/>
              <a:ea typeface="나눔스퀘어OTF_ac"/>
              <a:cs typeface="Open Sans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ko-KR" altLang="en-US" sz="1700" u="sng">
              <a:latin typeface="나눔스퀘어OTF_ac"/>
              <a:ea typeface="나눔스퀘어OTF_ac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14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422750" y="1860403"/>
            <a:ext cx="5776639" cy="4685741"/>
          </a:xfrm>
          <a:prstGeom prst="rect">
            <a:avLst/>
          </a:prstGeom>
        </p:spPr>
      </p:pic>
      <p:pic>
        <p:nvPicPr>
          <p:cNvPr id="15" name="그림 14"/>
          <p:cNvPicPr/>
          <p:nvPr/>
        </p:nvPicPr>
        <p:blipFill rotWithShape="1">
          <a:blip r:embed="rId4"/>
          <a:srcRect t="5370"/>
          <a:stretch>
            <a:fillRect/>
          </a:stretch>
        </p:blipFill>
        <p:spPr>
          <a:xfrm>
            <a:off x="8455296" y="2089151"/>
            <a:ext cx="1519456" cy="2013939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414626" y="4394116"/>
            <a:ext cx="1484177" cy="19671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4. Results</a:t>
            </a:r>
            <a:r>
              <a:rPr lang="ko-KR" altLang="en-US" sz="4000" b="1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&amp; Analysis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3. Misclassification data Analysis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일부 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test case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에서 여전히 오분류가 발생하는 원인을 분석</a:t>
            </a:r>
          </a:p>
          <a:p>
            <a:pPr>
              <a:lnSpc>
                <a:spcPct val="150000"/>
              </a:lnSpc>
              <a:defRPr/>
            </a:pPr>
            <a:endParaRPr lang="ko-KR" altLang="en-US" sz="1700">
              <a:latin typeface="나눔스퀘어OTF_ac ExtraBold"/>
              <a:ea typeface="나눔스퀘어OTF_ac ExtraBold"/>
              <a:cs typeface="Open Sans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1)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학습 데이터의 부재한 결함 유형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학습 데이터에 포함되지 않은 결함 유형은 인식하지 못하는 한계 존재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2)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이미지 품질 저하로 인한 특징 소실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입력 이미지의 해상도가 낮거나 초점이 맞지 않은 경우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,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탐지 성능의 저하 발생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3)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기능적 결함과 시각적 결함의 괴리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액정 패널의 고장으로 인해 화면의 일부만 켜지는 형태의 결함 인식 부재</a:t>
            </a:r>
          </a:p>
          <a:p>
            <a:pPr marL="457200" lvl="1" indent="0">
              <a:lnSpc>
                <a:spcPct val="150000"/>
              </a:lnSpc>
              <a:buNone/>
              <a:defRPr/>
            </a:pPr>
            <a:endParaRPr lang="en-US" altLang="ko-KR" sz="1700">
              <a:latin typeface="나눔스퀘어OTF_ac"/>
              <a:ea typeface="나눔스퀘어OTF_ac"/>
              <a:cs typeface="Open Sans"/>
            </a:endParaRPr>
          </a:p>
          <a:p>
            <a:pPr>
              <a:lnSpc>
                <a:spcPct val="150000"/>
              </a:lnSpc>
              <a:defRPr/>
            </a:pPr>
            <a:endParaRPr lang="en-US" altLang="ko-KR" sz="1700">
              <a:latin typeface="나눔스퀘어OTF_ac ExtraBold"/>
              <a:ea typeface="나눔스퀘어OTF_ac ExtraBold"/>
              <a:cs typeface="Open Sans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700">
              <a:latin typeface="나눔스퀘어OTF_ac ExtraBold"/>
              <a:ea typeface="나눔스퀘어OTF_ac ExtraBold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15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3" name="그림 12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7598570" y="966787"/>
            <a:ext cx="2235676" cy="2524125"/>
          </a:xfrm>
          <a:prstGeom prst="rect">
            <a:avLst/>
          </a:prstGeom>
        </p:spPr>
      </p:pic>
      <p:pic>
        <p:nvPicPr>
          <p:cNvPr id="15" name="그림 14"/>
          <p:cNvPicPr/>
          <p:nvPr/>
        </p:nvPicPr>
        <p:blipFill rotWithShape="1">
          <a:blip r:embed="rId4"/>
          <a:stretch>
            <a:fillRect/>
          </a:stretch>
        </p:blipFill>
        <p:spPr>
          <a:xfrm>
            <a:off x="8548689" y="3726656"/>
            <a:ext cx="2785427" cy="2195354"/>
          </a:xfrm>
          <a:prstGeom prst="rect">
            <a:avLst/>
          </a:prstGeom>
        </p:spPr>
      </p:pic>
      <p:pic>
        <p:nvPicPr>
          <p:cNvPr id="16" name="그림 15"/>
          <p:cNvPicPr/>
          <p:nvPr/>
        </p:nvPicPr>
        <p:blipFill rotWithShape="1">
          <a:blip r:embed="rId5"/>
          <a:stretch>
            <a:fillRect/>
          </a:stretch>
        </p:blipFill>
        <p:spPr>
          <a:xfrm>
            <a:off x="9925050" y="988219"/>
            <a:ext cx="1996124" cy="25003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4. Results</a:t>
            </a:r>
            <a:r>
              <a:rPr lang="ko-KR" altLang="en-US" sz="4000" b="1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&amp; Analysis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4. Connect MLLM &amp; Generate Quality Report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학습 이후 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MLLM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과의 연결을 통해 품질 보고서 생성 시도 및 실험 진행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1)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프롬프트문 설계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: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System Prompt -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모델의 역할 지정 및 출력 형식 고정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700">
              <a:latin typeface="나눔스퀘어OTF_ac ExtraBold"/>
              <a:ea typeface="나눔스퀘어OTF_ac ExtraBold"/>
              <a:cs typeface="Open Sans"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1700">
              <a:latin typeface="나눔스퀘어OTF_ac"/>
              <a:ea typeface="나눔스퀘어OTF_ac"/>
              <a:cs typeface="Open Sans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700">
              <a:latin typeface="나눔스퀘어OTF_ac ExtraBold"/>
              <a:ea typeface="나눔스퀘어OTF_ac ExtraBold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16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18731" y="2942979"/>
            <a:ext cx="8154538" cy="3496163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4. Results</a:t>
            </a:r>
            <a:r>
              <a:rPr lang="ko-KR" altLang="en-US" sz="4000" b="1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&amp; Analysis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4. Connect MLLM &amp; Generate Quality Report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1)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프롬프트문 설계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: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User Prompt -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이미지와 이상 점수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,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모델 예측과 함께 이미지를 관찰해 결함을 찾고 구체적 서술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700">
              <a:latin typeface="나눔스퀘어OTF_ac ExtraBold"/>
              <a:ea typeface="나눔스퀘어OTF_ac ExtraBold"/>
              <a:cs typeface="Open Sans"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1700">
              <a:latin typeface="나눔스퀘어OTF_ac"/>
              <a:ea typeface="나눔스퀘어OTF_ac"/>
              <a:cs typeface="Open Sans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700">
              <a:latin typeface="나눔스퀘어OTF_ac ExtraBold"/>
              <a:ea typeface="나눔스퀘어OTF_ac ExtraBold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17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86581" y="2392393"/>
            <a:ext cx="6818838" cy="4275521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4. Results</a:t>
            </a:r>
            <a:r>
              <a:rPr lang="ko-KR" altLang="en-US" sz="4000" b="1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&amp; Analysis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4. Connect MLLM &amp; Generate Quality Report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1)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프롬프트문 설계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: ROI of System Prompt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Bounding box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가 포함된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image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와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only-image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와의 품질 보고서의 비교를 위해 추가한 프롬프트문</a:t>
            </a:r>
            <a:endParaRPr lang="ko-KR" altLang="en-US" sz="1700">
              <a:latin typeface="나눔스퀘어OTF_ac ExtraBold"/>
              <a:ea typeface="나눔스퀘어OTF_ac ExtraBold"/>
              <a:cs typeface="Open Sans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ROI: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이상 탐지 모델이 잠재적 결함 후보로 판단한 영역을 의미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-&gt;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해당 내부를 더 꼼꼼하게 관찰하는 문단 추가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              but,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최종적으로는 여전히 이미지와 메타데이터로부터 합리적인 결함만을 보고서에 포함하도록 설계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700">
              <a:latin typeface="나눔스퀘어OTF_ac ExtraBold"/>
              <a:ea typeface="나눔스퀘어OTF_ac ExtraBold"/>
              <a:cs typeface="Open Sans"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1700">
              <a:latin typeface="나눔스퀘어OTF_ac"/>
              <a:ea typeface="나눔스퀘어OTF_ac"/>
              <a:cs typeface="Open Sans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700">
              <a:latin typeface="나눔스퀘어OTF_ac ExtraBold"/>
              <a:ea typeface="나눔스퀘어OTF_ac ExtraBold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18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40668" y="4027873"/>
            <a:ext cx="8655843" cy="200381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4. Results</a:t>
            </a:r>
            <a:r>
              <a:rPr lang="ko-KR" altLang="en-US" sz="4000" b="1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&amp; Analysis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>
              <a:latin typeface="나눔스퀘어OTF_ac ExtraBold"/>
              <a:ea typeface="나눔스퀘어OTF_ac ExtraBold"/>
              <a:cs typeface="Open Sans"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1700">
              <a:latin typeface="나눔스퀘어OTF_ac ExtraBold"/>
              <a:ea typeface="나눔스퀘어OTF_ac ExtraBold"/>
              <a:cs typeface="Open Sans"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1700">
              <a:latin typeface="나눔스퀘어OTF_ac"/>
              <a:ea typeface="나눔스퀘어OTF_ac"/>
              <a:cs typeface="Open Sans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700">
              <a:latin typeface="나눔스퀘어OTF_ac ExtraBold"/>
              <a:ea typeface="나눔스퀘어OTF_ac ExtraBold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19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7847" y="977460"/>
            <a:ext cx="4458328" cy="5693768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rcRect b="35220"/>
          <a:stretch>
            <a:fillRect/>
          </a:stretch>
        </p:blipFill>
        <p:spPr>
          <a:xfrm>
            <a:off x="4799038" y="977454"/>
            <a:ext cx="3362395" cy="4426841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4"/>
          <a:srcRect t="66060"/>
          <a:stretch>
            <a:fillRect/>
          </a:stretch>
        </p:blipFill>
        <p:spPr>
          <a:xfrm>
            <a:off x="8245802" y="969869"/>
            <a:ext cx="3698549" cy="2551298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4. Results</a:t>
            </a:r>
            <a:r>
              <a:rPr lang="ko-KR" altLang="en-US" sz="4000" b="1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&amp; Analysis</a:t>
            </a:r>
            <a:endParaRPr lang="en-US" altLang="ko-KR" sz="4000" b="1">
              <a:latin typeface="나눔스퀘어OTF_ac ExtraBold"/>
              <a:ea typeface="나눔스퀘어OTF_ac ExtraBold"/>
              <a:cs typeface="Open Sans"/>
            </a:endParaRP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>
                <a:latin typeface="나눔스퀘어OTF_ac ExtraBold"/>
                <a:ea typeface="나눔스퀘어OTF_ac ExtraBold"/>
                <a:cs typeface="Open Sans"/>
              </a:rPr>
              <a:t>4. Connect MLLM &amp; Generate Quality Report</a:t>
            </a:r>
            <a:endParaRPr lang="en-US" altLang="ko-KR" sz="2200" b="1">
              <a:latin typeface="나눔스퀘어OTF_ac ExtraBold"/>
              <a:ea typeface="나눔스퀘어OTF_ac ExtraBold"/>
              <a:cs typeface="Open Sans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2)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품질 보고서 결과 비교</a:t>
            </a:r>
            <a:endParaRPr lang="ko-KR" altLang="en-US" sz="1700">
              <a:latin typeface="나눔스퀘어OTF_ac ExtraBold"/>
              <a:ea typeface="나눔스퀘어OTF_ac ExtraBold"/>
              <a:cs typeface="Open Sans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공통점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: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이상 점수 기반 품질 상태를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Abnormal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로 판단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+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전면 좌측 큰 손상을 주요 결함으로 기술</a:t>
            </a:r>
            <a:endParaRPr lang="ko-KR" altLang="en-US" sz="1700">
              <a:latin typeface="나눔스퀘어OTF_ac"/>
              <a:ea typeface="나눔스퀘어OTF_ac"/>
              <a:cs typeface="Open Sans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차이점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: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ROI-guided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품질보고서는 중앙부의 희미한 패턴을 시각적으로 타당한 결함으로 판단</a:t>
            </a:r>
            <a:endParaRPr lang="ko-KR" altLang="en-US" sz="1700">
              <a:latin typeface="나눔스퀘어OTF_ac"/>
              <a:ea typeface="나눔스퀘어OTF_ac"/>
              <a:cs typeface="Open Sans"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1700">
              <a:latin typeface="나눔스퀘어OTF_ac ExtraBold"/>
              <a:ea typeface="나눔스퀘어OTF_ac ExtraBold"/>
              <a:cs typeface="Open Sans"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1700">
              <a:latin typeface="나눔스퀘어OTF_ac"/>
              <a:ea typeface="나눔스퀘어OTF_ac"/>
              <a:cs typeface="Open Sans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700">
              <a:latin typeface="나눔스퀘어OTF_ac"/>
              <a:ea typeface="나눔스퀘어OTF_ac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20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312314" y="3609975"/>
            <a:ext cx="5449060" cy="2848372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56519" y="3988594"/>
            <a:ext cx="5325218" cy="2467319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868257" y="232025"/>
            <a:ext cx="1979996" cy="2955852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962025" y="4193952"/>
            <a:ext cx="3595687" cy="625697"/>
          </a:xfrm>
          <a:prstGeom prst="rect">
            <a:avLst/>
          </a:prstGeom>
          <a:noFill/>
          <a:ln w="19050">
            <a:solidFill>
              <a:srgbClr val="29396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20" name="직사각형 19"/>
          <p:cNvSpPr/>
          <p:nvPr/>
        </p:nvSpPr>
        <p:spPr>
          <a:xfrm>
            <a:off x="6334124" y="3603402"/>
            <a:ext cx="5262559" cy="1447229"/>
          </a:xfrm>
          <a:prstGeom prst="rect">
            <a:avLst/>
          </a:prstGeom>
          <a:noFill/>
          <a:ln w="19050" cap="flat" cmpd="sng" algn="ctr">
            <a:solidFill>
              <a:srgbClr val="29396f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5.</a:t>
            </a:r>
            <a:r>
              <a:rPr lang="ko-KR" altLang="en-US" sz="4000" b="1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Conclusion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ko-KR" altLang="en-US" sz="2200" b="1">
                <a:latin typeface="나눔스퀘어OTF_ac ExtraBold"/>
                <a:ea typeface="나눔스퀘어OTF_ac ExtraBold"/>
                <a:cs typeface="Open Sans"/>
              </a:rPr>
              <a:t>요약 및 기대효과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생성형 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AI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기반 데이터 증강 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+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도메인 특화 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MLLM(Anomaly-OV, LTFM) fine tuning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을 결합해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    스마트폰 외관 결함에 대한 설명 가능한 품질 관리 시스템 구현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ko-KR" altLang="en-US" sz="1700">
              <a:latin typeface="나눔스퀘어OTF_ac ExtraBold"/>
              <a:ea typeface="나눔스퀘어OTF_ac ExtraBold"/>
              <a:cs typeface="Open Sans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데이터 생성 → 모델 최적화 → 임계값 결정 → 교차 세대 일반화 검증까지 실무에 적용 가능한 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End-to-End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파이프라인 제시</a:t>
            </a:r>
          </a:p>
          <a:p>
            <a:pPr>
              <a:lnSpc>
                <a:spcPct val="150000"/>
              </a:lnSpc>
              <a:defRPr/>
            </a:pPr>
            <a:endParaRPr lang="ko-KR" altLang="en-US" sz="1700">
              <a:latin typeface="나눔스퀘어OTF_ac ExtraBold"/>
              <a:ea typeface="나눔스퀘어OTF_ac ExtraBold"/>
              <a:cs typeface="Open Sans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1)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데이터 희소성 및 불균형 문제 해결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Gemini 3로 미세 기스,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번인,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미세 찍힘 등 희소 결함 합성 데이터 대량 생성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Hard Negative 정상 샘플까지 포함해 결함 다양성 확장 + 클래스 불균형 완화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초기 데이터가 적은 Cold Start 환경에서도 바로 적용 가능한 범용 파이프라인 제시</a:t>
            </a:r>
          </a:p>
          <a:p>
            <a:pPr>
              <a:lnSpc>
                <a:spcPct val="150000"/>
              </a:lnSpc>
              <a:defRPr/>
            </a:pPr>
            <a:endParaRPr lang="en-US" altLang="ko-KR" sz="1700">
              <a:latin typeface="나눔스퀘어OTF_ac ExtraBold"/>
              <a:ea typeface="나눔스퀘어OTF_ac ExtraBold"/>
              <a:cs typeface="Open Sans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700">
              <a:latin typeface="나눔스퀘어OTF_ac ExtraBold"/>
              <a:ea typeface="나눔스퀘어OTF_ac ExtraBold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21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5.</a:t>
            </a:r>
            <a:r>
              <a:rPr lang="ko-KR" altLang="en-US" sz="4000" b="1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Conclusion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ko-KR" altLang="en-US" sz="2200" b="1">
                <a:latin typeface="나눔스퀘어OTF_ac ExtraBold"/>
                <a:ea typeface="나눔스퀘어OTF_ac ExtraBold"/>
                <a:cs typeface="Open Sans"/>
              </a:rPr>
              <a:t>요약 및 기대효과</a:t>
            </a:r>
            <a:endParaRPr lang="en-US" altLang="ko-KR" sz="2200" b="1">
              <a:latin typeface="나눔스퀘어OTF_ac ExtraBold"/>
              <a:ea typeface="나눔스퀘어OTF_ac ExtraBold"/>
              <a:cs typeface="Open Sans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2)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설명 가능한 지능형 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QC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성능 향상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스마트폰 도메인에 맞게 LTFM을 파인튜닝해 F1-score 88.48% 달성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결함 위치에 대한 Bounding Box + 시각적 근거(Visual Rationale) 제공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어디에 어떤 결함이 있는지를 자연어로 설명해 인간 검사관의 신뢰도·판정 일관성 향상</a:t>
            </a:r>
          </a:p>
          <a:p>
            <a:pPr>
              <a:lnSpc>
                <a:spcPct val="150000"/>
              </a:lnSpc>
              <a:defRPr/>
            </a:pPr>
            <a:endParaRPr lang="en-US" altLang="ko-KR" sz="1700">
              <a:latin typeface="나눔스퀘어OTF_ac ExtraBold"/>
              <a:ea typeface="나눔스퀘어OTF_ac ExtraBold"/>
              <a:cs typeface="Open Sans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3)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도메인 특화 임계값(τ) 설계를 통한 검수 정책 반영 가능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Pareto Filtering + max-min(P, R) 기준으로 임계값을 설정해 균형을 맞추는 강건한 결정 경계 확보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재현율 99% 이상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등 기업별 검수 정책을 그대로 반영 가능한 사용자 맞춤형 기준 제시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700">
              <a:latin typeface="나눔스퀘어OTF_ac"/>
              <a:ea typeface="나눔스퀘어OTF_ac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22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5.</a:t>
            </a:r>
            <a:r>
              <a:rPr lang="ko-KR" altLang="en-US" sz="4000" b="1">
                <a:latin typeface="나눔스퀘어OTF_ac ExtraBold"/>
                <a:ea typeface="나눔스퀘어OTF_ac ExtraBold"/>
                <a:cs typeface="Open Sans"/>
              </a:rPr>
              <a:t> </a:t>
            </a:r>
            <a:r>
              <a:rPr lang="en-US" altLang="ko-KR" sz="4000" b="1">
                <a:latin typeface="나눔스퀘어OTF_ac ExtraBold"/>
                <a:ea typeface="나눔스퀘어OTF_ac ExtraBold"/>
                <a:cs typeface="Open Sans"/>
              </a:rPr>
              <a:t>Conclusion</a:t>
            </a:r>
          </a:p>
        </p:txBody>
      </p:sp>
      <p:sp>
        <p:nvSpPr>
          <p:cNvPr id="5" name="내용 개체 틀 3"/>
          <p:cNvSpPr>
            <a:spLocks noGrp="1"/>
          </p:cNvSpPr>
          <p:nvPr>
            <p:ph idx="1"/>
          </p:nvPr>
        </p:nvSpPr>
        <p:spPr>
          <a:xfrm>
            <a:off x="695324" y="1286358"/>
            <a:ext cx="10801350" cy="49783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ko-KR" altLang="en-US" sz="2200" b="1">
                <a:latin typeface="나눔스퀘어OTF_ac ExtraBold"/>
                <a:ea typeface="나눔스퀘어OTF_ac ExtraBold"/>
                <a:cs typeface="Open Sans"/>
              </a:rPr>
              <a:t>요약 및 기대효과</a:t>
            </a:r>
            <a:endParaRPr lang="en-US" altLang="ko-KR" sz="2200" b="1">
              <a:latin typeface="나눔스퀘어OTF_ac ExtraBold"/>
              <a:ea typeface="나눔스퀘어OTF_ac ExtraBold"/>
              <a:cs typeface="Open Sans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4)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교차 세대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(Cross-Generation) 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일반화 확보 설명 가능한 지능형 </a:t>
            </a:r>
            <a:r>
              <a:rPr lang="en-US" altLang="ko-KR" sz="1700">
                <a:latin typeface="나눔스퀘어OTF_ac ExtraBold"/>
                <a:ea typeface="나눔스퀘어OTF_ac ExtraBold"/>
                <a:cs typeface="Open Sans"/>
              </a:rPr>
              <a:t>QC</a:t>
            </a: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 성능 향상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train: 2017~2023년 기종 / test: 2024~2025년 기종으로 분리 평가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새로운 디자인 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및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재질의 신제품에서도 성능 유지 → 연간 재학습 부담 및 유지보수 비용 절감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스마트폰을 넘어 세대 교체 주기가 빠른 제품군 전반에 적용 가능한 일반화 프레임워크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700">
              <a:latin typeface="나눔스퀘어OTF_ac"/>
              <a:ea typeface="나눔스퀘어OTF_ac"/>
              <a:cs typeface="Open Sans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700">
                <a:latin typeface="나눔스퀘어OTF_ac ExtraBold"/>
                <a:ea typeface="나눔스퀘어OTF_ac ExtraBold"/>
                <a:cs typeface="Open Sans"/>
              </a:rPr>
              <a:t>추후 연구 방향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생성 결함 데이터의 사실성을 정량 평가하고(도메인 특화 FID 등), 실제 결함과의 분포 차이를 축소하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는 연구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LTFM 탐지 성능을 유지하면서 지식 증류,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양자화 등으로 MLLM을 경량화해 실시간 추론이 가능하도록 하는 연구</a:t>
            </a:r>
            <a:endParaRPr lang="ko-KR" altLang="en-US" sz="1700">
              <a:latin typeface="나눔스퀘어OTF_ac"/>
              <a:ea typeface="나눔스퀘어OTF_ac"/>
              <a:cs typeface="Open Sans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스마트폰 외관을 넘어 NDT(X-ray, CT),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3D 포인트 클라우드 등 다양한 제조 도메인으로 프레임워크를 확장,</a:t>
            </a:r>
            <a:r>
              <a:rPr lang="ko-KR" altLang="en-US" sz="1700">
                <a:latin typeface="나눔스퀘어OTF_ac"/>
                <a:ea typeface="나눔스퀘어OTF_ac"/>
                <a:cs typeface="Open Sans"/>
              </a:rPr>
              <a:t> </a:t>
            </a:r>
            <a:r>
              <a:rPr lang="en-US" altLang="ko-KR" sz="1700">
                <a:latin typeface="나눔스퀘어OTF_ac"/>
                <a:ea typeface="나눔스퀘어OTF_ac"/>
                <a:cs typeface="Open Sans"/>
              </a:rPr>
              <a:t>검증 연구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700">
              <a:latin typeface="나눔스퀘어OTF_ac ExtraBold"/>
              <a:ea typeface="나눔스퀘어OTF_ac ExtraBold"/>
              <a:cs typeface="Open Sans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700">
              <a:latin typeface="나눔스퀘어OTF_ac ExtraBold"/>
              <a:ea typeface="나눔스퀘어OTF_ac ExtraBold"/>
              <a:cs typeface="Open San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71EF441-DD61-471E-990C-77F400E5E037}" type="slidenum">
              <a:rPr lang="en-US" altLang="en-US">
                <a:solidFill>
                  <a:srgbClr val="B5B5B5"/>
                </a:solidFill>
                <a:latin typeface="나눔스퀘어OTF_ac ExtraBold"/>
                <a:ea typeface="나눔스퀘어OTF_ac ExtraBold"/>
              </a:rPr>
              <a:pPr lvl="0">
                <a:defRPr/>
              </a:pPr>
              <a:t>23</a:t>
            </a:fld>
            <a:endParaRPr lang="en-US" altLang="en-US">
              <a:solidFill>
                <a:srgbClr val="B5B5B5"/>
              </a:solidFill>
              <a:latin typeface="나눔스퀘어OTF_ac ExtraBold"/>
              <a:ea typeface="나눔스퀘어OTF_ac ExtraBold"/>
            </a:endParaRPr>
          </a:p>
        </p:txBody>
      </p:sp>
      <p:sp>
        <p:nvSpPr>
          <p:cNvPr id="7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-1" y="2644425"/>
            <a:ext cx="12192001" cy="935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Font typeface="+mj-lt"/>
              <a:buNone/>
              <a:defRPr/>
            </a:pPr>
            <a:r>
              <a:rPr lang="en-US" altLang="ko-KR" sz="3700" b="1">
                <a:latin typeface="나눔스퀘어OTF_ac ExtraBold"/>
                <a:ea typeface="나눔스퀘어OTF_ac ExtraBold"/>
                <a:cs typeface="Open Sans"/>
              </a:rPr>
              <a:t>Q &amp; A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824182" y="3591535"/>
            <a:ext cx="8543636" cy="546802"/>
          </a:xfrm>
          <a:prstGeom prst="rect">
            <a:avLst/>
          </a:prstGeom>
          <a:solidFill>
            <a:srgbClr val="29396F"/>
          </a:solidFill>
          <a:ln>
            <a:headEnd w="med" len="med"/>
            <a:tailEnd w="med" len="med"/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2500" b="1">
                <a:latin typeface="나눔스퀘어OTF_ac ExtraBold"/>
                <a:ea typeface="나눔스퀘어OTF_ac ExtraBold"/>
                <a:cs typeface="Open Sans"/>
              </a:rPr>
              <a:t>Data Analysis Capstone Design 2025-2 - Final</a:t>
            </a:r>
          </a:p>
        </p:txBody>
      </p:sp>
      <p:sp>
        <p:nvSpPr>
          <p:cNvPr id="19" name="직사각형 17"/>
          <p:cNvSpPr/>
          <p:nvPr/>
        </p:nvSpPr>
        <p:spPr>
          <a:xfrm rot="5400000" flipV="1">
            <a:off x="-3376639" y="3409351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0" name="직사각형 17"/>
          <p:cNvSpPr/>
          <p:nvPr/>
        </p:nvSpPr>
        <p:spPr>
          <a:xfrm flipV="1">
            <a:off x="0" y="0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1" name="직사각형 17"/>
          <p:cNvSpPr/>
          <p:nvPr/>
        </p:nvSpPr>
        <p:spPr>
          <a:xfrm rot="5400000" flipV="1">
            <a:off x="8743350" y="3409352"/>
            <a:ext cx="6825288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2" name="직사각형 17"/>
          <p:cNvSpPr/>
          <p:nvPr/>
        </p:nvSpPr>
        <p:spPr>
          <a:xfrm flipV="1">
            <a:off x="0" y="6785991"/>
            <a:ext cx="12192000" cy="72009"/>
          </a:xfrm>
          <a:prstGeom prst="rect">
            <a:avLst/>
          </a:prstGeom>
          <a:solidFill>
            <a:srgbClr val="29396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800" b="1" i="0" u="none" strike="noStrike" kern="1200" cap="none" spc="0" normalizeH="0" baseline="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1143</ep:Words>
  <ep:PresentationFormat>와이드스크린</ep:PresentationFormat>
  <ep:Paragraphs>186</ep:Paragraphs>
  <ep:Slides>24</ep:Slides>
  <ep:Notes>24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ep:HeadingPairs>
  <ep:TitlesOfParts>
    <vt:vector size="25" baseType="lpstr">
      <vt:lpstr>Office 테마</vt:lpstr>
      <vt:lpstr>슬라이드 1</vt:lpstr>
      <vt:lpstr>Contents</vt:lpstr>
      <vt:lpstr>1. Background &amp; Problem</vt:lpstr>
      <vt:lpstr>2. Project Idea</vt:lpstr>
      <vt:lpstr>3. Methodology</vt:lpstr>
      <vt:lpstr>3. Methodology</vt:lpstr>
      <vt:lpstr>3. Methodology</vt:lpstr>
      <vt:lpstr>3. Methodology</vt:lpstr>
      <vt:lpstr>3. Methodology</vt:lpstr>
      <vt:lpstr>3. Methodology</vt:lpstr>
      <vt:lpstr>3. Methodology</vt:lpstr>
      <vt:lpstr>4. Results &amp; Analysis</vt:lpstr>
      <vt:lpstr>4. Results &amp; Analysis</vt:lpstr>
      <vt:lpstr>4. Results &amp; Analysis</vt:lpstr>
      <vt:lpstr>4. Results &amp; Analysis</vt:lpstr>
      <vt:lpstr>4. Results &amp; Analysis</vt:lpstr>
      <vt:lpstr>4. Results &amp; Analysis</vt:lpstr>
      <vt:lpstr>4. Results &amp; Analysis</vt:lpstr>
      <vt:lpstr>4. Results &amp; Analysis</vt:lpstr>
      <vt:lpstr>4. Results &amp; Analysis</vt:lpstr>
      <vt:lpstr>5. Conclusion</vt:lpstr>
      <vt:lpstr>5. Conclusion</vt:lpstr>
      <vt:lpstr>5. Conclusion</vt:lpstr>
      <vt:lpstr>슬라이드 24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2022-09-07T10:23:22.000</dcterms:created>
  <dc:creator>PARK SANGKEUN</dc:creator>
  <cp:lastModifiedBy>degas</cp:lastModifiedBy>
  <dcterms:modified xsi:type="dcterms:W3CDTF">2025-12-09T10:19:56.035</dcterms:modified>
  <cp:revision>1768</cp:revision>
  <dc:title>PowerPoint 프레젠테이션</dc:title>
  <cp:version/>
</cp:coreProperties>
</file>